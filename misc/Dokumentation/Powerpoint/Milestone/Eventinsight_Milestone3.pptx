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6"/>
  </p:notesMasterIdLst>
  <p:sldIdLst>
    <p:sldId id="257" r:id="rId5"/>
    <p:sldId id="261" r:id="rId6"/>
    <p:sldId id="285" r:id="rId7"/>
    <p:sldId id="287" r:id="rId8"/>
    <p:sldId id="290" r:id="rId9"/>
    <p:sldId id="291" r:id="rId10"/>
    <p:sldId id="286" r:id="rId11"/>
    <p:sldId id="292" r:id="rId12"/>
    <p:sldId id="294" r:id="rId13"/>
    <p:sldId id="295" r:id="rId14"/>
    <p:sldId id="293" r:id="rId15"/>
  </p:sldIdLst>
  <p:sldSz cx="12192000" cy="6858000"/>
  <p:notesSz cx="6858000" cy="9144000"/>
  <p:embeddedFontLst>
    <p:embeddedFont>
      <p:font typeface="Lemon Tuesday" panose="02000506040000020004" charset="0"/>
      <p:regular r:id="rId17"/>
    </p:embeddedFont>
    <p:embeddedFont>
      <p:font typeface="THESANS PLAIN" panose="020B0604020202020204"/>
      <p:regular r:id="rId1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AE9B50C8-5EBC-422A-9A15-A531B37E6F6D}">
          <p14:sldIdLst>
            <p14:sldId id="257"/>
            <p14:sldId id="261"/>
            <p14:sldId id="285"/>
            <p14:sldId id="287"/>
            <p14:sldId id="290"/>
            <p14:sldId id="291"/>
            <p14:sldId id="286"/>
            <p14:sldId id="292"/>
            <p14:sldId id="294"/>
            <p14:sldId id="295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A84"/>
    <a:srgbClr val="3EB19B"/>
    <a:srgbClr val="F07F3E"/>
    <a:srgbClr val="FDC21A"/>
    <a:srgbClr val="68C0ED"/>
    <a:srgbClr val="AB86BB"/>
    <a:srgbClr val="3B4858"/>
    <a:srgbClr val="871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2648C6-E041-4346-9AC1-13A518042CBA}" v="8" dt="2024-11-25T12:26:49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921" autoAdjust="0"/>
  </p:normalViewPr>
  <p:slideViewPr>
    <p:cSldViewPr snapToGrid="0">
      <p:cViewPr varScale="1">
        <p:scale>
          <a:sx n="106" d="100"/>
          <a:sy n="106" d="100"/>
        </p:scale>
        <p:origin x="139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E0F9D-EE58-AD4F-81A8-795EB4710398}" type="datetimeFigureOut">
              <a:rPr lang="de-DE" smtClean="0"/>
              <a:t>27.01.2025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91A4F-9949-BA4C-829E-3204D57F773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771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7186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E4AFAA2B-DDC1-A705-5CE1-101E13B92766}"/>
              </a:ext>
            </a:extLst>
          </p:cNvPr>
          <p:cNvSpPr/>
          <p:nvPr userDrawn="1"/>
        </p:nvSpPr>
        <p:spPr>
          <a:xfrm rot="8196387">
            <a:off x="5318777" y="-1177905"/>
            <a:ext cx="4759712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E788BC45-8048-7B84-6229-DCDD3DE3BF4F}"/>
              </a:ext>
            </a:extLst>
          </p:cNvPr>
          <p:cNvSpPr/>
          <p:nvPr userDrawn="1"/>
        </p:nvSpPr>
        <p:spPr>
          <a:xfrm rot="18508693">
            <a:off x="1395937" y="190960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3B4858"/>
              </a:solidFill>
            </a:endParaRP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53156BBC-8764-AD40-F6CB-488906C34726}"/>
              </a:ext>
            </a:extLst>
          </p:cNvPr>
          <p:cNvSpPr/>
          <p:nvPr userDrawn="1"/>
        </p:nvSpPr>
        <p:spPr>
          <a:xfrm rot="18508693">
            <a:off x="-2981212" y="509312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all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1B6E541-F5CC-F240-8719-BEB4A5EC4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1945"/>
            <a:ext cx="9144000" cy="514333"/>
          </a:xfrm>
        </p:spPr>
        <p:txBody>
          <a:bodyPr/>
          <a:lstStyle>
            <a:lvl1pPr marL="0" indent="0" algn="ctr">
              <a:buNone/>
              <a:defRPr sz="24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4410C33-1701-9D02-17EB-5A50EA14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11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7638847" y="2923405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>
                <a:solidFill>
                  <a:srgbClr val="647A84"/>
                </a:solidFill>
              </a:ln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63C2FF-D34A-4E1D-4D3F-467FBB505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3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4213215">
            <a:off x="8051400" y="2605689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87112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3682330">
            <a:off x="7933371" y="2109941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7122B-0C08-E6C1-0210-6CD79672C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31C7AA4-A627-F8BA-2CCD-B9C2123020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94354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 8">
            <a:extLst>
              <a:ext uri="{FF2B5EF4-FFF2-40B4-BE49-F238E27FC236}">
                <a16:creationId xmlns:a16="http://schemas.microsoft.com/office/drawing/2014/main" id="{DA5825F8-513B-B545-0FFC-488FE999F5FB}"/>
              </a:ext>
            </a:extLst>
          </p:cNvPr>
          <p:cNvSpPr/>
          <p:nvPr userDrawn="1"/>
        </p:nvSpPr>
        <p:spPr>
          <a:xfrm rot="13719526">
            <a:off x="6164391" y="912245"/>
            <a:ext cx="5661246" cy="617809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329A880C-CDB3-777E-2AB8-1F48254E31AE}"/>
              </a:ext>
            </a:extLst>
          </p:cNvPr>
          <p:cNvSpPr/>
          <p:nvPr userDrawn="1"/>
        </p:nvSpPr>
        <p:spPr>
          <a:xfrm rot="14422122">
            <a:off x="6006382" y="912844"/>
            <a:ext cx="5977263" cy="666536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F6A94F-E95B-DE85-80DE-41A30D6EF5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0019AF08-F98A-249A-70D5-287A396F6F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1725" y="1825625"/>
            <a:ext cx="56261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036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LTI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CDB8B56-F8ED-E75D-94F8-D19D63A10C6B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869FC48E-DBA1-2BDA-E17F-5C3F6FDE5395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1D38A5A9-B0EC-B19E-2B55-B4EB7BF0062D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FFF5B99F-0E1F-01A7-744E-2EF82718A002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5B5895DD-FD3C-A0D0-AEA0-14F6E1B6F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3EB19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69BCD0C-E6FD-A391-31AC-99F7900D6E08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5" name="Freihandform 4">
              <a:extLst>
                <a:ext uri="{FF2B5EF4-FFF2-40B4-BE49-F238E27FC236}">
                  <a16:creationId xmlns:a16="http://schemas.microsoft.com/office/drawing/2014/main" id="{566959B6-D5FD-115C-4245-14C9A5CA0F7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56C46375-AF90-59A2-15DE-8F74AF01B24E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Titel 1">
              <a:extLst>
                <a:ext uri="{FF2B5EF4-FFF2-40B4-BE49-F238E27FC236}">
                  <a16:creationId xmlns:a16="http://schemas.microsoft.com/office/drawing/2014/main" id="{C6706052-A8A0-EC8B-DE2A-37753BFF141B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71AECDBA-926D-2333-8D63-C7AA5FF5FD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F006BF-ED77-B4FA-C85C-8038B2533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7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3EB19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103E6A1-427C-DEA2-E3D5-1EE7257882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B403AB1-721A-D59F-1128-70ED9C37C1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OMED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B660315-2685-210F-0BB0-D16F55F5ED4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1FE73F2D-820B-68E3-07C9-849945DB711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64119056-080F-580C-E8BF-E184662C5FC5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EEB2D9D2-20CD-5644-82DF-61153D16FF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92F0663E-269E-DB8B-4D56-7B08BC60309F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122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AB86B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1294860-1064-3445-6C61-45DEC7E7C9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E3AC9B7E-5497-583A-6313-2C203CD8A24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45DE9893-BDB4-EF24-7A85-3D15DC7B2554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58944C9A-4AFA-B685-2D24-DCA869C65A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A7C8EDEF-ECCC-2C3D-8EEC-82552AA403A1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828EDCD1-C93D-DA7C-0FA0-A53A3C1031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AB86B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52C64651-6783-3F95-B472-01BF50B79B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AB86BB"/>
              </a:buClr>
              <a:defRPr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36EE6B-A834-51EA-8E2C-EF9DBE0DDB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76479B1B-2313-F39F-9C3B-F642DBF208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343523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7D77910-3981-BE42-3AE3-2A2BDDD521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9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E16275DD-1536-1D24-E264-8EC8ADEF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9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68C0E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ADD8254-9041-0B98-6143-BBC7E77EDFA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6D825AF1-5573-6B63-83C1-1AD1F883C42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EA5CDC5-38EA-EFE6-C3CF-96FE07BDE5E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FA517CDC-F10D-3B96-0F06-4491ABCF428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1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68C0ED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1872E4B-225F-0DAD-628A-2BD8C7FB1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81DB9DC-A737-96D0-C7D2-36E461DB3596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1C5DEFE6-A397-825F-1055-B1F1B150B9F1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8B38AB7C-8A51-CC67-C9D4-694B7494AF8A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DFD1980A-3636-3326-E22D-8E9333AEC2A2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741F060-DF1B-02C1-AADF-5F486B3E73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72C787CD-1A6F-6C6D-0C6B-C16F57640F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102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07F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6025BD0-DFC7-9370-5F39-C4EE04AB27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CD07D8F-CB3A-3B22-C5A4-BABDAD157337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59190A98-71F0-E3EA-E28A-A615FF51D475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601D30AC-CD57-3CDD-7FFF-82B176E8B657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1" name="Titel 1">
                <a:extLst>
                  <a:ext uri="{FF2B5EF4-FFF2-40B4-BE49-F238E27FC236}">
                    <a16:creationId xmlns:a16="http://schemas.microsoft.com/office/drawing/2014/main" id="{8C0E83FF-3856-E911-1AF5-DA1E1D7CD7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8F200E25-86C0-1AE4-026E-64F44C974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029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07F3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DBF30F4-5B84-B9FE-9731-A49C402155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F2A23F-5DA5-FBC2-6F5E-E411C24151AF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1" name="Freihandform 10">
                <a:extLst>
                  <a:ext uri="{FF2B5EF4-FFF2-40B4-BE49-F238E27FC236}">
                    <a16:creationId xmlns:a16="http://schemas.microsoft.com/office/drawing/2014/main" id="{73455C59-6DFE-398F-0A49-3E19A7CD5AFE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CE3A32F1-BFD1-EDE9-FE9A-4F90D62501AD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3271CB76-F983-8C91-9D55-3D23EA171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DEAAD532-9086-5FB7-DE52-3AA6223D70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464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4067EC93-F18C-8487-B235-FF764ABF29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7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DC21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D2E9D08-558B-CC6D-5429-222C45A763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EF0F5953-246B-7D63-F877-779CE3EE6861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6FAEC9A1-E7D9-9F74-A1C6-FC8D3136630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04AA9378-4C14-13B9-BF38-8A3953EB4868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7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DC21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F2973C9-CCE7-D25F-92CB-BD0A810DBB9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F050C0B-C8EA-09B0-B2E2-1A2C2D2E7FD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820849D5-078C-A53B-60F3-BF6575D4688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8" name="Titel 1">
              <a:extLst>
                <a:ext uri="{FF2B5EF4-FFF2-40B4-BE49-F238E27FC236}">
                  <a16:creationId xmlns:a16="http://schemas.microsoft.com/office/drawing/2014/main" id="{7CED5819-A52E-B0F0-8580-232D52F139C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3B4858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none" spc="0" baseline="0">
                <a:solidFill>
                  <a:srgbClr val="647A84"/>
                </a:solidFill>
                <a:latin typeface="Lemon Tuesday" panose="02000506040000020004" pitchFamily="2" charset="77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617E586-69C6-D060-BCD3-E7339DBBE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46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603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68018D-4A30-0245-A581-E357DFC5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C02A29-A96A-854E-A75C-3232443A5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39119"/>
            <a:ext cx="10515600" cy="418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E845B0-A96A-1F4A-984E-2254723BC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742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47A84"/>
                </a:solidFill>
              </a:defRPr>
            </a:lvl1pPr>
          </a:lstStyle>
          <a:p>
            <a:fld id="{12C137DF-46F0-194D-B8E6-89251B633EE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1F9CB3-A1AC-2CC2-8E52-7965B0B1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47A84"/>
                </a:solidFill>
              </a:defRPr>
            </a:lvl1pPr>
          </a:lstStyle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CBB944-0731-9506-EB09-BCB312E1EBDE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0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3" r:id="rId5"/>
    <p:sldLayoutId id="2147483681" r:id="rId6"/>
    <p:sldLayoutId id="2147483682" r:id="rId7"/>
    <p:sldLayoutId id="2147483686" r:id="rId8"/>
    <p:sldLayoutId id="2147483687" r:id="rId9"/>
    <p:sldLayoutId id="2147483688" r:id="rId10"/>
    <p:sldLayoutId id="2147483652" r:id="rId11"/>
    <p:sldLayoutId id="2147483689" r:id="rId12"/>
    <p:sldLayoutId id="2147483690" r:id="rId13"/>
    <p:sldLayoutId id="2147483666" r:id="rId14"/>
    <p:sldLayoutId id="2147483694" r:id="rId15"/>
    <p:sldLayoutId id="2147483695" r:id="rId16"/>
    <p:sldLayoutId id="2147483696" r:id="rId17"/>
    <p:sldLayoutId id="2147483691" r:id="rId18"/>
    <p:sldLayoutId id="2147483692" r:id="rId19"/>
    <p:sldLayoutId id="2147483693" r:id="rId20"/>
    <p:sldLayoutId id="2147483665" r:id="rId21"/>
    <p:sldLayoutId id="214748369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spc="600" baseline="0">
          <a:solidFill>
            <a:srgbClr val="647A84"/>
          </a:solidFill>
          <a:latin typeface="TheSans Plain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7112E"/>
        </a:buClr>
        <a:buFont typeface="Wingdings" pitchFamily="2" charset="2"/>
        <a:buChar char="§"/>
        <a:defRPr sz="2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4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0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FF56CFA-BDB3-48B8-A7BC-FC38A662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</a:t>
            </a:fld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A1F810-6947-4213-8F15-1147FCCF5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37714"/>
            <a:ext cx="9144000" cy="888439"/>
          </a:xfrm>
        </p:spPr>
        <p:txBody>
          <a:bodyPr/>
          <a:lstStyle/>
          <a:p>
            <a:r>
              <a:rPr lang="de-AT" dirty="0"/>
              <a:t>Eventinsight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CBBB85-825F-4212-A573-B49482B7A6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487377" y="6356350"/>
            <a:ext cx="4700155" cy="365125"/>
          </a:xfrm>
        </p:spPr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4CC5B1A-1A4E-2FA7-3942-66129F853FA6}"/>
              </a:ext>
            </a:extLst>
          </p:cNvPr>
          <p:cNvSpPr txBox="1">
            <a:spLocks/>
          </p:cNvSpPr>
          <p:nvPr/>
        </p:nvSpPr>
        <p:spPr>
          <a:xfrm>
            <a:off x="2936297" y="5991225"/>
            <a:ext cx="6319405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7112E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400" b="1" dirty="0"/>
              <a:t>Project Supervisor: </a:t>
            </a:r>
            <a:r>
              <a:rPr lang="de-AT" sz="2400" dirty="0"/>
              <a:t>Dipl.-Ing. Alexander </a:t>
            </a:r>
            <a:r>
              <a:rPr lang="en-US" sz="2400" dirty="0"/>
              <a:t>Rodiga</a:t>
            </a:r>
          </a:p>
          <a:p>
            <a:pPr marL="0" indent="0">
              <a:buNone/>
            </a:pPr>
            <a:endParaRPr lang="de-AT" sz="24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BCD0204-D37B-23D5-7FFA-2F1CA0CE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95760" y="1528688"/>
            <a:ext cx="4400478" cy="4360001"/>
          </a:xfrm>
          <a:prstGeom prst="rect">
            <a:avLst/>
          </a:prstGeom>
        </p:spPr>
      </p:pic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0304EED-F83A-4EAB-84EA-DDB22522EC3E}"/>
              </a:ext>
            </a:extLst>
          </p:cNvPr>
          <p:cNvCxnSpPr/>
          <p:nvPr/>
        </p:nvCxnSpPr>
        <p:spPr>
          <a:xfrm>
            <a:off x="2798618" y="537714"/>
            <a:ext cx="6557818" cy="0"/>
          </a:xfrm>
          <a:prstGeom prst="line">
            <a:avLst/>
          </a:prstGeom>
          <a:ln w="76200">
            <a:solidFill>
              <a:srgbClr val="647A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D474E42-9283-4D80-8864-BC2F7C254BBD}"/>
              </a:ext>
            </a:extLst>
          </p:cNvPr>
          <p:cNvCxnSpPr/>
          <p:nvPr/>
        </p:nvCxnSpPr>
        <p:spPr>
          <a:xfrm>
            <a:off x="2817090" y="1423540"/>
            <a:ext cx="6557818" cy="0"/>
          </a:xfrm>
          <a:prstGeom prst="line">
            <a:avLst/>
          </a:prstGeom>
          <a:ln w="76200">
            <a:solidFill>
              <a:srgbClr val="647A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1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llipse 12">
            <a:extLst>
              <a:ext uri="{FF2B5EF4-FFF2-40B4-BE49-F238E27FC236}">
                <a16:creationId xmlns:a16="http://schemas.microsoft.com/office/drawing/2014/main" id="{7C62659E-AC12-4496-BD4E-6652B069B359}"/>
              </a:ext>
            </a:extLst>
          </p:cNvPr>
          <p:cNvSpPr/>
          <p:nvPr/>
        </p:nvSpPr>
        <p:spPr>
          <a:xfrm>
            <a:off x="2974109" y="528637"/>
            <a:ext cx="9070109" cy="559507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20165" y="2781588"/>
            <a:ext cx="5330800" cy="4351338"/>
          </a:xfrm>
        </p:spPr>
        <p:txBody>
          <a:bodyPr/>
          <a:lstStyle/>
          <a:p>
            <a:r>
              <a:rPr lang="de-AT" sz="3200" dirty="0"/>
              <a:t>Sumann:</a:t>
            </a:r>
          </a:p>
          <a:p>
            <a:pPr lvl="1"/>
            <a:r>
              <a:rPr lang="en-US" sz="2000" dirty="0"/>
              <a:t>Create the user interface.</a:t>
            </a:r>
          </a:p>
          <a:p>
            <a:pPr lvl="1"/>
            <a:r>
              <a:rPr lang="en-US" sz="2000" dirty="0"/>
              <a:t>Implement the live-tracking application.</a:t>
            </a:r>
          </a:p>
          <a:p>
            <a:pPr lvl="1"/>
            <a:r>
              <a:rPr lang="en-US" sz="2000" dirty="0"/>
              <a:t>Processing of RaceResult data</a:t>
            </a:r>
          </a:p>
          <a:p>
            <a:pPr marL="457200" lvl="1" indent="0">
              <a:buNone/>
            </a:pPr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88BF19F-FECE-4EEC-B2CB-26CE666079CA}"/>
              </a:ext>
            </a:extLst>
          </p:cNvPr>
          <p:cNvSpPr txBox="1">
            <a:spLocks/>
          </p:cNvSpPr>
          <p:nvPr/>
        </p:nvSpPr>
        <p:spPr>
          <a:xfrm>
            <a:off x="711201" y="2781588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3200" dirty="0"/>
              <a:t>Lindner:</a:t>
            </a:r>
          </a:p>
          <a:p>
            <a:pPr lvl="2"/>
            <a:r>
              <a:rPr lang="en-US" dirty="0"/>
              <a:t>Build and manage the admin interface.</a:t>
            </a:r>
          </a:p>
          <a:p>
            <a:pPr lvl="2"/>
            <a:r>
              <a:rPr lang="en-US" dirty="0"/>
              <a:t>Display race-related data and sponsor images. </a:t>
            </a:r>
          </a:p>
          <a:p>
            <a:pPr lvl="2"/>
            <a:r>
              <a:rPr lang="en-US" dirty="0"/>
              <a:t>Develop and maintain the backend.</a:t>
            </a:r>
          </a:p>
          <a:p>
            <a:pPr lvl="2"/>
            <a:r>
              <a:rPr lang="en-US" dirty="0"/>
              <a:t>Create Login Portal</a:t>
            </a:r>
            <a:endParaRPr lang="de-AT" dirty="0"/>
          </a:p>
          <a:p>
            <a:pPr lvl="2"/>
            <a:endParaRPr lang="de-AT" sz="2400" dirty="0"/>
          </a:p>
          <a:p>
            <a:pPr lvl="2"/>
            <a:endParaRPr lang="de-AT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67125DA4-5D01-43A0-8D41-368228D0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Subtasks</a:t>
            </a:r>
          </a:p>
        </p:txBody>
      </p:sp>
    </p:spTree>
    <p:extLst>
      <p:ext uri="{BB962C8B-B14F-4D97-AF65-F5344CB8AC3E}">
        <p14:creationId xmlns:p14="http://schemas.microsoft.com/office/powerpoint/2010/main" val="203628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072BE-C3D1-4CD7-FFE4-812869CE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Current Status: </a:t>
            </a:r>
            <a:r>
              <a:rPr lang="en-AU" dirty="0"/>
              <a:t>Lindner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BE01CC-B0E7-7DD5-DC2E-322295EA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536CB4-BD6B-66A7-5147-0CA8000182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9294A43-4753-C7C2-F993-A8B99394DE03}"/>
              </a:ext>
            </a:extLst>
          </p:cNvPr>
          <p:cNvSpPr txBox="1">
            <a:spLocks/>
          </p:cNvSpPr>
          <p:nvPr/>
        </p:nvSpPr>
        <p:spPr>
          <a:xfrm>
            <a:off x="-433401" y="1500043"/>
            <a:ext cx="9978454" cy="4992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AT" sz="2200" b="1" dirty="0"/>
              <a:t>Admin Login Portal</a:t>
            </a:r>
          </a:p>
          <a:p>
            <a:pPr lvl="3"/>
            <a:r>
              <a:rPr lang="en-US" dirty="0"/>
              <a:t>Persistent login with token and username stored in local storage.</a:t>
            </a:r>
          </a:p>
          <a:p>
            <a:pPr lvl="3"/>
            <a:r>
              <a:rPr lang="en-US" dirty="0"/>
              <a:t>Admins have restricted access to their assigned events only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r>
              <a:rPr lang="de-AT" sz="2200" b="1" dirty="0"/>
              <a:t>Prototype for Sponsorship Tool</a:t>
            </a:r>
          </a:p>
          <a:p>
            <a:pPr lvl="3"/>
            <a:r>
              <a:rPr lang="de-AT" dirty="0"/>
              <a:t>Supports picture uploads.</a:t>
            </a:r>
          </a:p>
          <a:p>
            <a:pPr lvl="3"/>
            <a:r>
              <a:rPr lang="en-US" dirty="0"/>
              <a:t>Displays sponsorship content on the user home page.</a:t>
            </a:r>
          </a:p>
          <a:p>
            <a:pPr marL="1371600" lvl="3" indent="0">
              <a:buNone/>
            </a:pPr>
            <a:endParaRPr lang="en-US" sz="2000" dirty="0"/>
          </a:p>
          <a:p>
            <a:pPr lvl="2"/>
            <a:r>
              <a:rPr lang="de-AT" sz="2200" b="1" dirty="0"/>
              <a:t>Search Function for Events on the LandingPage</a:t>
            </a:r>
          </a:p>
          <a:p>
            <a:pPr lvl="3"/>
            <a:r>
              <a:rPr lang="en-US" dirty="0"/>
              <a:t>Users can view and access all events.</a:t>
            </a:r>
          </a:p>
          <a:p>
            <a:pPr lvl="3"/>
            <a:r>
              <a:rPr lang="en-US" dirty="0"/>
              <a:t>Admins are limited to managing their assigned events.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r>
              <a:rPr lang="de-AT" sz="1900" b="1" dirty="0"/>
              <a:t>Optimized Routes and smoother Website</a:t>
            </a:r>
          </a:p>
          <a:p>
            <a:pPr lvl="3"/>
            <a:r>
              <a:rPr lang="de-AT" dirty="0"/>
              <a:t>Enhanced security for routes.</a:t>
            </a:r>
          </a:p>
          <a:p>
            <a:pPr lvl="3"/>
            <a:r>
              <a:rPr lang="en-US" dirty="0"/>
              <a:t>Refined design for a better user experience.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r>
              <a:rPr lang="de-AT" sz="2600" b="1" dirty="0"/>
              <a:t>Total Work Effort: </a:t>
            </a:r>
            <a:r>
              <a:rPr lang="de-AT" sz="2600" dirty="0"/>
              <a:t>116 hours</a:t>
            </a:r>
          </a:p>
          <a:p>
            <a:pPr lvl="2"/>
            <a:endParaRPr lang="de-AT" sz="2400" dirty="0"/>
          </a:p>
          <a:p>
            <a:pPr lvl="2"/>
            <a:endParaRPr lang="de-AT" sz="2400" dirty="0"/>
          </a:p>
          <a:p>
            <a:pPr marL="914400" lvl="2" indent="0">
              <a:buNone/>
            </a:pPr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397653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57472-C64A-4A4B-AA5E-A7AFA768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Landingpage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1F2EAA6F-D159-41DB-9014-AE6654704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05" b="1"/>
          <a:stretch/>
        </p:blipFill>
        <p:spPr>
          <a:xfrm>
            <a:off x="1521929" y="1819564"/>
            <a:ext cx="9148141" cy="4365733"/>
          </a:xfrm>
          <a:ln w="28575">
            <a:solidFill>
              <a:srgbClr val="647A84"/>
            </a:solidFill>
          </a:ln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088E5C-CD6B-4723-8677-6298DC96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79CFEA-928C-495A-8BBA-ECA0F00280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135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57472-C64A-4A4B-AA5E-A7AFA768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Admin Home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1F2EAA6F-D159-41DB-9014-AE6654704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15" b="562"/>
          <a:stretch/>
        </p:blipFill>
        <p:spPr>
          <a:xfrm>
            <a:off x="1531850" y="1828800"/>
            <a:ext cx="9128298" cy="4331855"/>
          </a:xfrm>
          <a:ln w="28575">
            <a:solidFill>
              <a:srgbClr val="647A84"/>
            </a:solidFill>
          </a:ln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088E5C-CD6B-4723-8677-6298DC96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79CFEA-928C-495A-8BBA-ECA0F00280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325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57472-C64A-4A4B-AA5E-A7AFA768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User Home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1F2EAA6F-D159-41DB-9014-AE6654704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99"/>
          <a:stretch/>
        </p:blipFill>
        <p:spPr>
          <a:xfrm>
            <a:off x="1531850" y="1801813"/>
            <a:ext cx="9128298" cy="4370388"/>
          </a:xfrm>
          <a:ln w="28575">
            <a:solidFill>
              <a:srgbClr val="647A84"/>
            </a:solidFill>
          </a:ln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088E5C-CD6B-4723-8677-6298DC96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79CFEA-928C-495A-8BBA-ECA0F00280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590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7B5C0-932D-82E0-C325-ECC58F17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000" dirty="0"/>
              <a:t>Goals for the next Sprint: </a:t>
            </a:r>
            <a:r>
              <a:rPr lang="de-AT" dirty="0"/>
              <a:t>Lindner</a:t>
            </a:r>
            <a:endParaRPr lang="de-AT" sz="40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E25E652-CBDA-DA47-B493-A4C71F08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7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2C5040-9A5D-A11D-01CF-5C6B59462E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85450C8-C694-CF79-F1C1-DC21DC892A0D}"/>
              </a:ext>
            </a:extLst>
          </p:cNvPr>
          <p:cNvSpPr txBox="1">
            <a:spLocks/>
          </p:cNvSpPr>
          <p:nvPr/>
        </p:nvSpPr>
        <p:spPr>
          <a:xfrm>
            <a:off x="0" y="1416916"/>
            <a:ext cx="119513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2000" b="1" dirty="0"/>
          </a:p>
          <a:p>
            <a:pPr lvl="2"/>
            <a:r>
              <a:rPr lang="de-AT" b="1" dirty="0"/>
              <a:t>Improve route security</a:t>
            </a:r>
          </a:p>
          <a:p>
            <a:pPr lvl="3"/>
            <a:r>
              <a:rPr lang="de-AT" dirty="0"/>
              <a:t>Address known bugs</a:t>
            </a:r>
          </a:p>
          <a:p>
            <a:pPr lvl="3"/>
            <a:endParaRPr lang="de-AT" b="1" dirty="0"/>
          </a:p>
          <a:p>
            <a:pPr lvl="2"/>
            <a:r>
              <a:rPr lang="de-AT" b="1" dirty="0"/>
              <a:t>Tool to add text on the homepage of an event</a:t>
            </a:r>
          </a:p>
          <a:p>
            <a:pPr lvl="3"/>
            <a:r>
              <a:rPr lang="en-US" dirty="0"/>
              <a:t>Add a tool for admins to add event info manually.</a:t>
            </a:r>
          </a:p>
          <a:p>
            <a:pPr lvl="3"/>
            <a:r>
              <a:rPr lang="en-US" dirty="0"/>
              <a:t>Include an option to automatically get event info from an API</a:t>
            </a:r>
          </a:p>
          <a:p>
            <a:pPr lvl="3"/>
            <a:endParaRPr lang="de-AT" b="1" dirty="0"/>
          </a:p>
          <a:p>
            <a:pPr lvl="2"/>
            <a:r>
              <a:rPr lang="de-AT" b="1" dirty="0"/>
              <a:t>Optimize sponsor tool</a:t>
            </a:r>
          </a:p>
          <a:p>
            <a:pPr lvl="3"/>
            <a:r>
              <a:rPr lang="en-US" dirty="0"/>
              <a:t>Display sponsor pictures on all event pages.</a:t>
            </a:r>
          </a:p>
          <a:p>
            <a:pPr lvl="3"/>
            <a:r>
              <a:rPr lang="en-US" dirty="0"/>
              <a:t>Ensure all sponsor images have uniform sizes </a:t>
            </a:r>
          </a:p>
          <a:p>
            <a:pPr lvl="3"/>
            <a:r>
              <a:rPr lang="en-US" dirty="0"/>
              <a:t>Adjust their placement for better visibility.</a:t>
            </a:r>
            <a:endParaRPr lang="de-AT" dirty="0"/>
          </a:p>
          <a:p>
            <a:pPr lvl="3"/>
            <a:endParaRPr lang="de-AT" dirty="0"/>
          </a:p>
          <a:p>
            <a:pPr lvl="2"/>
            <a:endParaRPr lang="de-AT" b="1" dirty="0"/>
          </a:p>
          <a:p>
            <a:pPr lvl="2"/>
            <a:endParaRPr lang="de-AT" b="1" dirty="0"/>
          </a:p>
          <a:p>
            <a:pPr lvl="2"/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43669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0099-B470-06AB-ED10-DC3D0EFC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690104D-187C-1CCE-6B73-0A590C7CA277}"/>
              </a:ext>
            </a:extLst>
          </p:cNvPr>
          <p:cNvSpPr/>
          <p:nvPr/>
        </p:nvSpPr>
        <p:spPr>
          <a:xfrm>
            <a:off x="5694629" y="1432710"/>
            <a:ext cx="1439501" cy="399257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1E20E1-3E1A-4AC9-E768-335DEAE8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Current Status: </a:t>
            </a:r>
            <a:r>
              <a:rPr lang="en-AU" dirty="0"/>
              <a:t>Sumann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721B83-1B61-7A67-B071-92050C4C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8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A7A0AD-EE7F-788D-11AB-9A88FE0B94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0B84094-ED5F-5F6B-8E68-EDC8B137A49B}"/>
              </a:ext>
            </a:extLst>
          </p:cNvPr>
          <p:cNvSpPr txBox="1">
            <a:spLocks/>
          </p:cNvSpPr>
          <p:nvPr/>
        </p:nvSpPr>
        <p:spPr>
          <a:xfrm>
            <a:off x="-433401" y="1500043"/>
            <a:ext cx="7685227" cy="4992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AT" b="1" dirty="0" err="1"/>
              <a:t>ResultTable</a:t>
            </a:r>
            <a:endParaRPr lang="de-AT" b="1" dirty="0"/>
          </a:p>
          <a:p>
            <a:pPr lvl="3"/>
            <a:r>
              <a:rPr lang="en-GB" dirty="0"/>
              <a:t>Redesigned the table for a better look and usability.</a:t>
            </a:r>
          </a:p>
          <a:p>
            <a:pPr lvl="3"/>
            <a:r>
              <a:rPr lang="en-GB" dirty="0"/>
              <a:t>Results are now categorized by gender (male and female). </a:t>
            </a:r>
          </a:p>
          <a:p>
            <a:pPr lvl="3"/>
            <a:r>
              <a:rPr lang="en-GB" dirty="0"/>
              <a:t>Added search and sort functions for easier navigation.</a:t>
            </a:r>
          </a:p>
          <a:p>
            <a:pPr lvl="3"/>
            <a:endParaRPr lang="en-US" dirty="0"/>
          </a:p>
          <a:p>
            <a:pPr lvl="2"/>
            <a:r>
              <a:rPr lang="de-AT" b="1" dirty="0" err="1"/>
              <a:t>Participant</a:t>
            </a:r>
            <a:r>
              <a:rPr lang="de-AT" b="1" dirty="0"/>
              <a:t> Checkbox </a:t>
            </a:r>
            <a:r>
              <a:rPr lang="de-AT" b="1" dirty="0" err="1"/>
              <a:t>for</a:t>
            </a:r>
            <a:r>
              <a:rPr lang="de-AT" b="1" dirty="0"/>
              <a:t> </a:t>
            </a:r>
            <a:r>
              <a:rPr lang="de-AT" b="1" dirty="0" err="1"/>
              <a:t>the</a:t>
            </a:r>
            <a:r>
              <a:rPr lang="de-AT" b="1" dirty="0"/>
              <a:t> </a:t>
            </a:r>
            <a:r>
              <a:rPr lang="de-AT" b="1" dirty="0" err="1"/>
              <a:t>LiveMap</a:t>
            </a:r>
            <a:endParaRPr lang="de-AT" dirty="0"/>
          </a:p>
          <a:p>
            <a:pPr lvl="3"/>
            <a:r>
              <a:rPr lang="en-GB" dirty="0"/>
              <a:t>Users can select which participants to display on the map.</a:t>
            </a:r>
          </a:p>
          <a:p>
            <a:pPr lvl="3"/>
            <a:r>
              <a:rPr lang="en-GB" dirty="0"/>
              <a:t>Includes a search bar to quickly find specific participants.</a:t>
            </a:r>
          </a:p>
          <a:p>
            <a:pPr lvl="3"/>
            <a:endParaRPr lang="en-US" dirty="0"/>
          </a:p>
          <a:p>
            <a:pPr lvl="2"/>
            <a:r>
              <a:rPr lang="de-AT" sz="2400" b="1" dirty="0"/>
              <a:t>Total Work Effort: </a:t>
            </a:r>
            <a:r>
              <a:rPr lang="de-AT" sz="2400" dirty="0"/>
              <a:t>113 hours</a:t>
            </a:r>
          </a:p>
          <a:p>
            <a:pPr lvl="2"/>
            <a:endParaRPr lang="de-AT" sz="2400" dirty="0"/>
          </a:p>
          <a:p>
            <a:pPr lvl="2"/>
            <a:endParaRPr lang="de-AT" sz="2400" dirty="0"/>
          </a:p>
          <a:p>
            <a:pPr marL="914400" lvl="2" indent="0">
              <a:buNone/>
            </a:pPr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53540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997B9-EF74-F22D-5DF3-EC235467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endParaRPr lang="de-AT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E5374ED-15FC-608C-431E-31F7F718DB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2599" y="1690688"/>
            <a:ext cx="10550459" cy="4486592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E58843-0CBA-386B-AC69-6D13BD0C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9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0003E2-380D-01BB-F5B7-FAF154374E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033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283C8-BC2F-A86B-6E32-50C2E718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Live-</a:t>
            </a:r>
            <a:r>
              <a:rPr lang="de-DE" dirty="0" err="1"/>
              <a:t>Map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502D39-2D8B-E0B4-965F-1537E7A5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10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09ECD1-D9EC-47D0-74D3-5137D25329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B8F40F4-9A32-5E6C-101B-948BF6027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045260"/>
            <a:ext cx="11805920" cy="386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3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068D-084E-36AA-A09B-66B72C4C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72C4B-CD72-AD76-09E6-20CFC08F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000" dirty="0"/>
              <a:t>Goals for the next Sprint: </a:t>
            </a:r>
            <a:r>
              <a:rPr lang="de-AT" dirty="0"/>
              <a:t>Sumann</a:t>
            </a:r>
            <a:endParaRPr lang="de-AT" sz="40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3D0CE48-A34F-5E30-7ADA-22872263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11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AAB39E-5BC4-8F9A-657F-F67849706A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AAF4C1D9-167F-9B31-54FC-34A2194C04CD}"/>
              </a:ext>
            </a:extLst>
          </p:cNvPr>
          <p:cNvSpPr txBox="1">
            <a:spLocks/>
          </p:cNvSpPr>
          <p:nvPr/>
        </p:nvSpPr>
        <p:spPr>
          <a:xfrm>
            <a:off x="-1" y="1416916"/>
            <a:ext cx="8598877" cy="493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2000" b="1" dirty="0"/>
          </a:p>
          <a:p>
            <a:pPr lvl="2"/>
            <a:r>
              <a:rPr lang="de-AT" b="1" dirty="0"/>
              <a:t>Implement </a:t>
            </a:r>
            <a:r>
              <a:rPr lang="de-AT" b="1" dirty="0" err="1"/>
              <a:t>the</a:t>
            </a:r>
            <a:r>
              <a:rPr lang="de-AT" b="1" dirty="0"/>
              <a:t> </a:t>
            </a:r>
            <a:r>
              <a:rPr lang="de-AT" b="1" dirty="0" err="1"/>
              <a:t>tracking</a:t>
            </a:r>
            <a:r>
              <a:rPr lang="de-AT" b="1" dirty="0"/>
              <a:t> </a:t>
            </a:r>
            <a:r>
              <a:rPr lang="de-AT" b="1" dirty="0" err="1"/>
              <a:t>function</a:t>
            </a:r>
            <a:endParaRPr lang="de-AT" b="1" dirty="0"/>
          </a:p>
          <a:p>
            <a:pPr lvl="3"/>
            <a:r>
              <a:rPr lang="en-GB" dirty="0"/>
              <a:t>Use API data to calculate and display participants' positions.</a:t>
            </a:r>
          </a:p>
          <a:p>
            <a:pPr lvl="3"/>
            <a:r>
              <a:rPr lang="en-GB" dirty="0"/>
              <a:t>Continuously update the position in real-time. </a:t>
            </a:r>
          </a:p>
          <a:p>
            <a:pPr lvl="3"/>
            <a:r>
              <a:rPr lang="en-GB" dirty="0"/>
              <a:t>Automatically remove participants from the live map once they finish the race.</a:t>
            </a:r>
          </a:p>
          <a:p>
            <a:pPr lvl="3"/>
            <a:endParaRPr lang="de-AT" b="1" dirty="0"/>
          </a:p>
          <a:p>
            <a:pPr lvl="2"/>
            <a:r>
              <a:rPr lang="en-US" b="1" dirty="0"/>
              <a:t>Program a display to view the elevation profile of the route.</a:t>
            </a:r>
            <a:endParaRPr lang="de-AT" b="1" dirty="0"/>
          </a:p>
          <a:p>
            <a:pPr lvl="3"/>
            <a:r>
              <a:rPr lang="en-GB" dirty="0"/>
              <a:t>Add a graph below the map to show the route’s elevation profile.</a:t>
            </a:r>
          </a:p>
          <a:p>
            <a:pPr lvl="3"/>
            <a:r>
              <a:rPr lang="en-GB" dirty="0"/>
              <a:t>Ensure the graph updates to reflect the full route accurately.</a:t>
            </a:r>
          </a:p>
          <a:p>
            <a:pPr lvl="3"/>
            <a:endParaRPr lang="de-AT" b="1" dirty="0"/>
          </a:p>
          <a:p>
            <a:pPr lvl="2"/>
            <a:r>
              <a:rPr lang="de-AT" b="1" dirty="0"/>
              <a:t>Finish </a:t>
            </a:r>
            <a:r>
              <a:rPr lang="de-AT" b="1" dirty="0" err="1"/>
              <a:t>the</a:t>
            </a:r>
            <a:r>
              <a:rPr lang="de-AT" b="1" dirty="0"/>
              <a:t> User-Designs</a:t>
            </a:r>
          </a:p>
          <a:p>
            <a:pPr lvl="3"/>
            <a:r>
              <a:rPr lang="en-GB" dirty="0"/>
              <a:t>Complete design elements like the footer and other UI details.</a:t>
            </a:r>
            <a:endParaRPr lang="de-AT" dirty="0"/>
          </a:p>
          <a:p>
            <a:pPr lvl="2"/>
            <a:endParaRPr lang="de-AT" b="1" dirty="0"/>
          </a:p>
          <a:p>
            <a:pPr lvl="2"/>
            <a:endParaRPr lang="de-AT" b="1" dirty="0"/>
          </a:p>
          <a:p>
            <a:pPr lvl="2"/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159104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aesentation_Vorlage.pptx" id="{FEE4E45D-BE9B-4FD0-A3F6-AB5E47BB9175}" vid="{370469F0-C813-4DEE-A58D-5334841F986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5144B3B9FD9F4E8701BAB6558735A5" ma:contentTypeVersion="3" ma:contentTypeDescription="Ein neues Dokument erstellen." ma:contentTypeScope="" ma:versionID="d40aa22cda282e23afc9577fc6611d97">
  <xsd:schema xmlns:xsd="http://www.w3.org/2001/XMLSchema" xmlns:xs="http://www.w3.org/2001/XMLSchema" xmlns:p="http://schemas.microsoft.com/office/2006/metadata/properties" xmlns:ns2="151b1fa9-8228-4cc5-a875-0718a187954b" targetNamespace="http://schemas.microsoft.com/office/2006/metadata/properties" ma:root="true" ma:fieldsID="086c7d07de839077bf2d2ba2d0ee8068" ns2:_="">
    <xsd:import namespace="151b1fa9-8228-4cc5-a875-0718a18795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b1fa9-8228-4cc5-a875-0718a18795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BA42D1-EBB1-443D-B3E3-5A83A7BEF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1b1fa9-8228-4cc5-a875-0718a18795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3EBF4C-1CBF-443D-9514-964E78E72AAE}">
  <ds:schemaRefs>
    <ds:schemaRef ds:uri="http://schemas.microsoft.com/sharepoint/v3/fields"/>
    <ds:schemaRef ds:uri="c30ccb4a-43b7-4f69-a98f-bd4c6140825e"/>
    <ds:schemaRef ds:uri="http://purl.org/dc/terms/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15ed38d-ed67-41bf-b060-b73408b9b06c"/>
    <ds:schemaRef ds:uri="5e39c299-dc7c-4830-947e-3e53c8b924c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5FB8950-32A7-4D95-8EAF-E3372C8F48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HTL-Praesentation</Template>
  <TotalTime>0</TotalTime>
  <Words>480</Words>
  <Application>Microsoft Office PowerPoint</Application>
  <PresentationFormat>Breitbild</PresentationFormat>
  <Paragraphs>100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THESANS PLAIN</vt:lpstr>
      <vt:lpstr>Arial</vt:lpstr>
      <vt:lpstr>Lemon Tuesday</vt:lpstr>
      <vt:lpstr>Calibri</vt:lpstr>
      <vt:lpstr>Wingdings</vt:lpstr>
      <vt:lpstr>Office</vt:lpstr>
      <vt:lpstr>Eventinsight</vt:lpstr>
      <vt:lpstr>Subtasks</vt:lpstr>
      <vt:lpstr>Current Status: Lindner</vt:lpstr>
      <vt:lpstr>Landingpage</vt:lpstr>
      <vt:lpstr>Admin Home</vt:lpstr>
      <vt:lpstr>User Home</vt:lpstr>
      <vt:lpstr>Goals for the next Sprint: Lindner</vt:lpstr>
      <vt:lpstr>Current Status: Sumann</vt:lpstr>
      <vt:lpstr>Result</vt:lpstr>
      <vt:lpstr>Live-Map</vt:lpstr>
      <vt:lpstr>Goals for the next Sprint: Sumann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Eventinsight</dc:title>
  <dc:creator>Maximilian Wolf Lindner (4AHEL)</dc:creator>
  <cp:lastModifiedBy>Maximilian Wolf Lindner (5AHEL)</cp:lastModifiedBy>
  <cp:revision>55</cp:revision>
  <dcterms:created xsi:type="dcterms:W3CDTF">2024-05-07T09:38:04Z</dcterms:created>
  <dcterms:modified xsi:type="dcterms:W3CDTF">2025-01-27T21:26:57Z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0x010100BBD94A3D7FEEA041AAA5A05D97AF0E0F</vt:lpwstr>
  </property>
  <property fmtid="{D5CDD505-2E9C-101B-9397-08002B2CF9AE}" pid="3" name="MediaServiceImageTags">
    <vt:lpwstr/>
  </property>
</Properties>
</file>